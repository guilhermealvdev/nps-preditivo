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2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7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7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3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8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36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66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15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745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10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79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1222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4797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372977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1489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42659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73105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58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50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CBC1C18-307B-4F68-A007-B5B542270E8D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078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7A4A9-B0F4-9D98-D03D-4A8DF4441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1"/>
            <a:ext cx="9440034" cy="1049868"/>
          </a:xfrm>
        </p:spPr>
        <p:txBody>
          <a:bodyPr anchor="ctr"/>
          <a:lstStyle/>
          <a:p>
            <a:r>
              <a:rPr lang="pt-BR" dirty="0"/>
              <a:t>NPS Preditivo no E-commerce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43A620-4B77-AEC9-DF3D-732050C82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1273" y="2724410"/>
            <a:ext cx="9440034" cy="1049867"/>
          </a:xfrm>
        </p:spPr>
        <p:txBody>
          <a:bodyPr anchor="ctr">
            <a:normAutofit/>
          </a:bodyPr>
          <a:lstStyle/>
          <a:p>
            <a:r>
              <a:rPr lang="pt-BR" dirty="0"/>
              <a:t>Análise de dados operacionais para antecipação da satisfação do cliente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B9E9272A-85E3-EB4C-87EA-7D02A5152A17}"/>
              </a:ext>
            </a:extLst>
          </p:cNvPr>
          <p:cNvSpPr txBox="1">
            <a:spLocks/>
          </p:cNvSpPr>
          <p:nvPr/>
        </p:nvSpPr>
        <p:spPr>
          <a:xfrm>
            <a:off x="1370693" y="4729147"/>
            <a:ext cx="9440034" cy="10498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Guilherme Alvarez - 2026</a:t>
            </a:r>
          </a:p>
        </p:txBody>
      </p:sp>
    </p:spTree>
    <p:extLst>
      <p:ext uri="{BB962C8B-B14F-4D97-AF65-F5344CB8AC3E}">
        <p14:creationId xmlns:p14="http://schemas.microsoft.com/office/powerpoint/2010/main" val="1470462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4AECACBB-6F48-54AA-378B-995705467EDA}"/>
              </a:ext>
            </a:extLst>
          </p:cNvPr>
          <p:cNvSpPr txBox="1">
            <a:spLocks/>
          </p:cNvSpPr>
          <p:nvPr/>
        </p:nvSpPr>
        <p:spPr>
          <a:xfrm>
            <a:off x="1375983" y="228600"/>
            <a:ext cx="9440034" cy="88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Contexto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9B68BCF-CECA-9469-3EB5-5A0B6AC6F596}"/>
              </a:ext>
            </a:extLst>
          </p:cNvPr>
          <p:cNvSpPr txBox="1">
            <a:spLocks/>
          </p:cNvSpPr>
          <p:nvPr/>
        </p:nvSpPr>
        <p:spPr>
          <a:xfrm>
            <a:off x="1375983" y="1115567"/>
            <a:ext cx="9440034" cy="534009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O e-commerce apresentou crescimento acelerado, com aumento significativo no volume de pedidos e interações com clientes.</a:t>
            </a:r>
          </a:p>
          <a:p>
            <a:br>
              <a:rPr lang="pt-BR" sz="1800" dirty="0"/>
            </a:br>
            <a:r>
              <a:rPr lang="pt-BR" sz="1800" dirty="0"/>
              <a:t>Esse crescimento trouxe desafios na consistência da experiência do cliente, refletidos na variabilidade do Net Promoter Score (NPS).</a:t>
            </a:r>
          </a:p>
          <a:p>
            <a:endParaRPr lang="pt-BR" sz="1800" dirty="0"/>
          </a:p>
          <a:p>
            <a:r>
              <a:rPr lang="pt-BR" sz="1800" dirty="0"/>
              <a:t>O Net Promoter Score (NPS) é uma métrica de satisfação do cliente baseada na probabilidade de recomendação da empresa.</a:t>
            </a:r>
            <a:br>
              <a:rPr lang="pt-BR" sz="1800" dirty="0"/>
            </a:br>
            <a:r>
              <a:rPr lang="pt-BR" sz="1800" dirty="0"/>
              <a:t>Os clientes são classificados em três grupos:</a:t>
            </a:r>
          </a:p>
          <a:p>
            <a:r>
              <a:rPr lang="pt-BR" sz="1800" b="1" dirty="0"/>
              <a:t>Detratores (0–6):</a:t>
            </a:r>
            <a:r>
              <a:rPr lang="pt-BR" sz="1800" dirty="0"/>
              <a:t> clientes insatisfeitos, com potencial de impacto negativo na reputação </a:t>
            </a:r>
          </a:p>
          <a:p>
            <a:r>
              <a:rPr lang="pt-BR" sz="1800" b="1" dirty="0"/>
              <a:t>Neutros (7–8):</a:t>
            </a:r>
            <a:r>
              <a:rPr lang="pt-BR" sz="1800" dirty="0"/>
              <a:t> clientes satisfeitos, porém com baixo nível de engajamento </a:t>
            </a:r>
          </a:p>
          <a:p>
            <a:r>
              <a:rPr lang="pt-BR" sz="1800" b="1" dirty="0"/>
              <a:t>Promotores (9–10):</a:t>
            </a:r>
            <a:r>
              <a:rPr lang="pt-BR" sz="1800" dirty="0"/>
              <a:t> clientes leais, com alta propensão a recomendar a empresa</a:t>
            </a:r>
          </a:p>
          <a:p>
            <a:endParaRPr lang="pt-BR" sz="1800" dirty="0"/>
          </a:p>
          <a:p>
            <a:r>
              <a:rPr lang="pt-BR" sz="1800" dirty="0"/>
              <a:t>A área de Experiência do Cliente identificou que, mesmo sob condições operacionais semelhantes, clientes apresentam percepções distintas: alguns se tornam promotores da marca, enquanto outros se tornam detratores.</a:t>
            </a:r>
          </a:p>
        </p:txBody>
      </p:sp>
    </p:spTree>
    <p:extLst>
      <p:ext uri="{BB962C8B-B14F-4D97-AF65-F5344CB8AC3E}">
        <p14:creationId xmlns:p14="http://schemas.microsoft.com/office/powerpoint/2010/main" val="111057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DF2FF-11F0-F26F-858B-8FE17BFA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F7AA91F-5320-1B69-ADE0-36EB9385E93C}"/>
              </a:ext>
            </a:extLst>
          </p:cNvPr>
          <p:cNvSpPr txBox="1">
            <a:spLocks/>
          </p:cNvSpPr>
          <p:nvPr/>
        </p:nvSpPr>
        <p:spPr>
          <a:xfrm>
            <a:off x="1375983" y="228600"/>
            <a:ext cx="9440034" cy="88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Problema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D94FFDFF-EFA0-533A-2B8F-E32AEF262171}"/>
              </a:ext>
            </a:extLst>
          </p:cNvPr>
          <p:cNvSpPr txBox="1">
            <a:spLocks/>
          </p:cNvSpPr>
          <p:nvPr/>
        </p:nvSpPr>
        <p:spPr>
          <a:xfrm>
            <a:off x="1375983" y="1115567"/>
            <a:ext cx="9440034" cy="47548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O principal problema é a baixa previsibilidade da satisfação do cliente no e-commerce.</a:t>
            </a:r>
          </a:p>
          <a:p>
            <a:r>
              <a:rPr lang="pt-BR" sz="1800" dirty="0"/>
              <a:t>Atualmente, o NPS é coletado apenas após o encerramento da jornada de compra, o que limita a capacidade da empresa de agir de forma preventiva.</a:t>
            </a:r>
          </a:p>
          <a:p>
            <a:endParaRPr lang="pt-BR" sz="1800" dirty="0"/>
          </a:p>
          <a:p>
            <a:r>
              <a:rPr lang="pt-BR" sz="1800" dirty="0"/>
              <a:t>Isso gera três desafios principais:</a:t>
            </a:r>
          </a:p>
          <a:p>
            <a:r>
              <a:rPr lang="pt-BR" sz="1800" dirty="0"/>
              <a:t>Dificuldade em identificar clientes insatisfeitos antes da avaliação final</a:t>
            </a:r>
          </a:p>
          <a:p>
            <a:r>
              <a:rPr lang="pt-BR" sz="1800" dirty="0"/>
              <a:t>Reações tardias a problemas operacionais</a:t>
            </a:r>
          </a:p>
          <a:p>
            <a:r>
              <a:rPr lang="pt-BR" sz="1800" dirty="0"/>
              <a:t>Falta de visibilidade sobre os fatores que impactam a experiência do cliente</a:t>
            </a:r>
          </a:p>
          <a:p>
            <a:endParaRPr lang="pt-BR" sz="1800" dirty="0"/>
          </a:p>
          <a:p>
            <a:r>
              <a:rPr lang="pt-BR" sz="1800" dirty="0"/>
              <a:t>O objetivo é identificar quais fatores operacionais influenciam a satisfação do cliente, permitindo ações proativas antes da coleta do NPS.</a:t>
            </a:r>
          </a:p>
        </p:txBody>
      </p:sp>
    </p:spTree>
    <p:extLst>
      <p:ext uri="{BB962C8B-B14F-4D97-AF65-F5344CB8AC3E}">
        <p14:creationId xmlns:p14="http://schemas.microsoft.com/office/powerpoint/2010/main" val="137980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4B14B-928E-541E-1712-9C0C6348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40900439-3BAA-9A3A-174A-FEA5EFBDB41D}"/>
              </a:ext>
            </a:extLst>
          </p:cNvPr>
          <p:cNvSpPr txBox="1">
            <a:spLocks/>
          </p:cNvSpPr>
          <p:nvPr/>
        </p:nvSpPr>
        <p:spPr>
          <a:xfrm>
            <a:off x="1375983" y="228600"/>
            <a:ext cx="9440034" cy="88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Importância do NPS para E-commerce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4C5FB5A-43E0-1BC2-31C2-13D9B6B9AD97}"/>
              </a:ext>
            </a:extLst>
          </p:cNvPr>
          <p:cNvSpPr txBox="1">
            <a:spLocks/>
          </p:cNvSpPr>
          <p:nvPr/>
        </p:nvSpPr>
        <p:spPr>
          <a:xfrm>
            <a:off x="1375983" y="1115567"/>
            <a:ext cx="9440034" cy="47548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pt-BR" sz="1800" dirty="0"/>
          </a:p>
          <a:p>
            <a:r>
              <a:rPr lang="pt-BR" sz="2800" dirty="0"/>
              <a:t>O NPS é um dos principais indicadores de crescimento sustentável em e-commerce, pois conecta experiência do cliente diretamente com resultados de negócio.</a:t>
            </a:r>
          </a:p>
          <a:p>
            <a:r>
              <a:rPr lang="pt-BR" sz="2800" dirty="0"/>
              <a:t>Ele é importante porque:</a:t>
            </a:r>
          </a:p>
          <a:p>
            <a:r>
              <a:rPr lang="pt-BR" sz="2800" dirty="0"/>
              <a:t>Permite m</a:t>
            </a:r>
            <a:r>
              <a:rPr lang="pt-BR" sz="2800" dirty="0">
                <a:effectLst/>
              </a:rPr>
              <a:t>edir a lealdade do cliente além da compra isolada </a:t>
            </a:r>
          </a:p>
          <a:p>
            <a:r>
              <a:rPr lang="pt-BR" sz="2800" dirty="0">
                <a:effectLst/>
              </a:rPr>
              <a:t>Funciona como um indicador antecipado de </a:t>
            </a:r>
            <a:r>
              <a:rPr lang="pt-BR" sz="2800" dirty="0" err="1">
                <a:effectLst/>
              </a:rPr>
              <a:t>churn</a:t>
            </a:r>
            <a:r>
              <a:rPr lang="pt-BR" sz="2800" dirty="0">
                <a:effectLst/>
              </a:rPr>
              <a:t> (perda de clientes) </a:t>
            </a:r>
          </a:p>
          <a:p>
            <a:r>
              <a:rPr lang="pt-BR" sz="2800" dirty="0">
                <a:effectLst/>
              </a:rPr>
              <a:t>Ajuda a identificar problemas operacionais que impactam a experiência final</a:t>
            </a:r>
          </a:p>
        </p:txBody>
      </p:sp>
    </p:spTree>
    <p:extLst>
      <p:ext uri="{BB962C8B-B14F-4D97-AF65-F5344CB8AC3E}">
        <p14:creationId xmlns:p14="http://schemas.microsoft.com/office/powerpoint/2010/main" val="1045757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75A8-6B7C-76B3-58EB-0B8BB2B56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765CA09B-CA40-562F-0F33-E76F54C6FECC}"/>
              </a:ext>
            </a:extLst>
          </p:cNvPr>
          <p:cNvSpPr txBox="1">
            <a:spLocks/>
          </p:cNvSpPr>
          <p:nvPr/>
        </p:nvSpPr>
        <p:spPr>
          <a:xfrm>
            <a:off x="1375983" y="228600"/>
            <a:ext cx="9440034" cy="88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Impacto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FC847F37-93FC-A9BF-97E6-5DDBC19AD574}"/>
              </a:ext>
            </a:extLst>
          </p:cNvPr>
          <p:cNvSpPr txBox="1">
            <a:spLocks/>
          </p:cNvSpPr>
          <p:nvPr/>
        </p:nvSpPr>
        <p:spPr>
          <a:xfrm>
            <a:off x="1375983" y="1115567"/>
            <a:ext cx="9440034" cy="47548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b="1" dirty="0"/>
              <a:t>📦 Recompra</a:t>
            </a:r>
          </a:p>
          <a:p>
            <a:r>
              <a:rPr lang="pt-BR" sz="1800" dirty="0"/>
              <a:t>Clientes promotores tendem a apresentar maior probabilidade de recompra, reduzindo o custo de aquisição e aumentando o </a:t>
            </a:r>
            <a:r>
              <a:rPr lang="pt-BR" sz="1800" dirty="0" err="1"/>
              <a:t>lifetime</a:t>
            </a:r>
            <a:r>
              <a:rPr lang="pt-BR" sz="1800" dirty="0"/>
              <a:t> </a:t>
            </a:r>
            <a:r>
              <a:rPr lang="pt-BR" sz="1800" dirty="0" err="1"/>
              <a:t>value</a:t>
            </a:r>
            <a:r>
              <a:rPr lang="pt-BR" sz="1800" dirty="0"/>
              <a:t>.</a:t>
            </a:r>
          </a:p>
          <a:p>
            <a:br>
              <a:rPr lang="pt-BR" sz="1800" dirty="0"/>
            </a:br>
            <a:endParaRPr lang="pt-BR" sz="1800" dirty="0"/>
          </a:p>
          <a:p>
            <a:r>
              <a:rPr lang="pt-BR" sz="1800" b="1" dirty="0"/>
              <a:t>🗣️ Boca a boca (word </a:t>
            </a:r>
            <a:r>
              <a:rPr lang="pt-BR" sz="1800" b="1" dirty="0" err="1"/>
              <a:t>of</a:t>
            </a:r>
            <a:r>
              <a:rPr lang="pt-BR" sz="1800" b="1" dirty="0"/>
              <a:t> </a:t>
            </a:r>
            <a:r>
              <a:rPr lang="pt-BR" sz="1800" b="1" dirty="0" err="1"/>
              <a:t>mouth</a:t>
            </a:r>
            <a:r>
              <a:rPr lang="pt-BR" sz="1800" b="1" dirty="0"/>
              <a:t>)</a:t>
            </a:r>
          </a:p>
          <a:p>
            <a:r>
              <a:rPr lang="pt-BR" sz="1800" dirty="0"/>
              <a:t>Clientes satisfeitos atuam como promotores naturais da marca, recomendando a empresa para outras pessoas e gerando crescimento orgânico.</a:t>
            </a:r>
          </a:p>
          <a:p>
            <a:br>
              <a:rPr lang="pt-BR" sz="1800" dirty="0"/>
            </a:br>
            <a:endParaRPr lang="pt-BR" sz="1800" dirty="0"/>
          </a:p>
          <a:p>
            <a:r>
              <a:rPr lang="pt-BR" sz="1800" b="1" dirty="0"/>
              <a:t>📊 Market </a:t>
            </a:r>
            <a:r>
              <a:rPr lang="pt-BR" sz="1800" b="1" dirty="0" err="1"/>
              <a:t>share</a:t>
            </a:r>
            <a:endParaRPr lang="pt-BR" sz="1800" b="1" dirty="0"/>
          </a:p>
          <a:p>
            <a:r>
              <a:rPr lang="pt-BR" sz="1800" dirty="0"/>
              <a:t>Um NPS elevado contribui para vantagem competitiva sustentável, pois fortalece a reputação da marca e aumenta a preferência do consumidor frente a concorrentes.</a:t>
            </a:r>
          </a:p>
        </p:txBody>
      </p:sp>
    </p:spTree>
    <p:extLst>
      <p:ext uri="{BB962C8B-B14F-4D97-AF65-F5344CB8AC3E}">
        <p14:creationId xmlns:p14="http://schemas.microsoft.com/office/powerpoint/2010/main" val="837600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42BE-D528-D571-450B-51FBC279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8CC74F39-A5C5-7D36-80E0-E9A241233A77}"/>
              </a:ext>
            </a:extLst>
          </p:cNvPr>
          <p:cNvSpPr txBox="1">
            <a:spLocks/>
          </p:cNvSpPr>
          <p:nvPr/>
        </p:nvSpPr>
        <p:spPr>
          <a:xfrm>
            <a:off x="1375983" y="228600"/>
            <a:ext cx="9440034" cy="88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Dados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BD009084-7F5E-E628-0AAA-51C728029B9E}"/>
              </a:ext>
            </a:extLst>
          </p:cNvPr>
          <p:cNvSpPr txBox="1">
            <a:spLocks/>
          </p:cNvSpPr>
          <p:nvPr/>
        </p:nvSpPr>
        <p:spPr>
          <a:xfrm>
            <a:off x="1375983" y="1115567"/>
            <a:ext cx="9440034" cy="47548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Conectar com dados (após o EDA)</a:t>
            </a:r>
          </a:p>
          <a:p>
            <a:r>
              <a:rPr lang="pt-BR" sz="1800" dirty="0"/>
              <a:t>Entender quais fatores operacionais influenciam diretamente o NPS</a:t>
            </a:r>
          </a:p>
          <a:p>
            <a:r>
              <a:rPr lang="pt-BR" sz="1800" dirty="0"/>
              <a:t>Variáveis:</a:t>
            </a:r>
          </a:p>
          <a:p>
            <a:r>
              <a:rPr lang="pt-BR" sz="1800" dirty="0"/>
              <a:t>tempo de entrega </a:t>
            </a:r>
          </a:p>
          <a:p>
            <a:r>
              <a:rPr lang="pt-BR" sz="1800" dirty="0"/>
              <a:t>atrasos </a:t>
            </a:r>
          </a:p>
          <a:p>
            <a:r>
              <a:rPr lang="pt-BR" sz="1800" dirty="0"/>
              <a:t>contatos com suporte </a:t>
            </a:r>
          </a:p>
          <a:p>
            <a:r>
              <a:rPr lang="pt-BR" sz="1800" dirty="0"/>
              <a:t>valor do pedido </a:t>
            </a:r>
          </a:p>
          <a:p>
            <a:r>
              <a:rPr lang="pt-BR" sz="1800" dirty="0"/>
              <a:t>reclamações</a:t>
            </a:r>
          </a:p>
        </p:txBody>
      </p:sp>
    </p:spTree>
    <p:extLst>
      <p:ext uri="{BB962C8B-B14F-4D97-AF65-F5344CB8AC3E}">
        <p14:creationId xmlns:p14="http://schemas.microsoft.com/office/powerpoint/2010/main" val="1576773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F586-2BAD-AB10-A880-8820A63F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0461953B-AFE6-4F13-595D-5EE9D684F922}"/>
              </a:ext>
            </a:extLst>
          </p:cNvPr>
          <p:cNvSpPr txBox="1">
            <a:spLocks/>
          </p:cNvSpPr>
          <p:nvPr/>
        </p:nvSpPr>
        <p:spPr>
          <a:xfrm>
            <a:off x="1375983" y="228600"/>
            <a:ext cx="9440034" cy="88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Análise e Insights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3267DF77-F9EB-0E20-F642-00778D6C72DC}"/>
              </a:ext>
            </a:extLst>
          </p:cNvPr>
          <p:cNvSpPr txBox="1">
            <a:spLocks/>
          </p:cNvSpPr>
          <p:nvPr/>
        </p:nvSpPr>
        <p:spPr>
          <a:xfrm>
            <a:off x="1375983" y="1115567"/>
            <a:ext cx="9440034" cy="47548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pt-BR" sz="1800" u="sng" dirty="0"/>
          </a:p>
          <a:p>
            <a:r>
              <a:rPr lang="pt-BR" sz="1800" dirty="0"/>
              <a:t>Pensar nos dados, o que causa o que</a:t>
            </a:r>
          </a:p>
          <a:p>
            <a:r>
              <a:rPr lang="pt-BR" sz="1800" dirty="0"/>
              <a:t>Atrasos aumentam insatisfação </a:t>
            </a:r>
          </a:p>
          <a:p>
            <a:r>
              <a:rPr lang="pt-BR" sz="1800" dirty="0"/>
              <a:t>Contato com suporte indica problemas na jornada </a:t>
            </a:r>
          </a:p>
          <a:p>
            <a:r>
              <a:rPr lang="pt-BR" sz="1800" dirty="0"/>
              <a:t>Entregas rápidas → maior NPS</a:t>
            </a:r>
          </a:p>
          <a:p>
            <a:endParaRPr lang="pt-BR" sz="1800" dirty="0"/>
          </a:p>
          <a:p>
            <a:r>
              <a:rPr lang="pt-BR" sz="1800" dirty="0"/>
              <a:t>Pensar menos técnico, olhar sobre a </a:t>
            </a:r>
            <a:r>
              <a:rPr lang="pt-BR" sz="1800" dirty="0" err="1"/>
              <a:t>area</a:t>
            </a:r>
            <a:endParaRPr lang="pt-BR" sz="1800" dirty="0"/>
          </a:p>
          <a:p>
            <a:r>
              <a:rPr lang="pt-BR" sz="1800" dirty="0"/>
              <a:t>Logística → atrasos e falhas de entrega </a:t>
            </a:r>
          </a:p>
          <a:p>
            <a:r>
              <a:rPr lang="pt-BR" sz="1800" dirty="0"/>
              <a:t>Atendimento → tempo de resposta e resolução </a:t>
            </a:r>
          </a:p>
          <a:p>
            <a:r>
              <a:rPr lang="pt-BR" sz="1800" dirty="0"/>
              <a:t>Produto → qualidade da experiência </a:t>
            </a:r>
          </a:p>
          <a:p>
            <a:r>
              <a:rPr lang="pt-BR" sz="1800" dirty="0" err="1"/>
              <a:t>Pricing</a:t>
            </a:r>
            <a:r>
              <a:rPr lang="pt-BR" sz="1800" dirty="0"/>
              <a:t> → impacto de descontos e frete</a:t>
            </a:r>
          </a:p>
        </p:txBody>
      </p:sp>
    </p:spTree>
    <p:extLst>
      <p:ext uri="{BB962C8B-B14F-4D97-AF65-F5344CB8AC3E}">
        <p14:creationId xmlns:p14="http://schemas.microsoft.com/office/powerpoint/2010/main" val="3819845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7C684-38D7-40F2-3BEE-430A1DCE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D30EF8DE-6BE3-F16C-6C96-B1CD241AA15E}"/>
              </a:ext>
            </a:extLst>
          </p:cNvPr>
          <p:cNvSpPr txBox="1">
            <a:spLocks/>
          </p:cNvSpPr>
          <p:nvPr/>
        </p:nvSpPr>
        <p:spPr>
          <a:xfrm>
            <a:off x="1375983" y="228600"/>
            <a:ext cx="9440034" cy="88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Limitações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641DC10-3A96-0CFA-5350-B93389985904}"/>
              </a:ext>
            </a:extLst>
          </p:cNvPr>
          <p:cNvSpPr txBox="1">
            <a:spLocks/>
          </p:cNvSpPr>
          <p:nvPr/>
        </p:nvSpPr>
        <p:spPr>
          <a:xfrm>
            <a:off x="1375983" y="1115567"/>
            <a:ext cx="9440034" cy="47548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Isso aqui mostra maturidade:</a:t>
            </a:r>
          </a:p>
          <a:p>
            <a:r>
              <a:rPr lang="pt-BR" dirty="0"/>
              <a:t>Dados históricos podem conter viés </a:t>
            </a:r>
          </a:p>
          <a:p>
            <a:r>
              <a:rPr lang="pt-BR" dirty="0"/>
              <a:t>NPS é subjetivo (humor do cliente influencia) </a:t>
            </a:r>
          </a:p>
          <a:p>
            <a:r>
              <a:rPr lang="pt-BR" dirty="0"/>
              <a:t>Correlação não implica causalidade </a:t>
            </a:r>
          </a:p>
          <a:p>
            <a:r>
              <a:rPr lang="pt-BR" dirty="0"/>
              <a:t>Modelo não substitui análise humana</a:t>
            </a:r>
          </a:p>
        </p:txBody>
      </p:sp>
    </p:spTree>
    <p:extLst>
      <p:ext uri="{BB962C8B-B14F-4D97-AF65-F5344CB8AC3E}">
        <p14:creationId xmlns:p14="http://schemas.microsoft.com/office/powerpoint/2010/main" val="252757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0FB06-61C1-CCC5-CF0F-FE9A24B6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6E4B29E8-2245-1B8D-8631-A5E84452E661}"/>
              </a:ext>
            </a:extLst>
          </p:cNvPr>
          <p:cNvSpPr txBox="1">
            <a:spLocks/>
          </p:cNvSpPr>
          <p:nvPr/>
        </p:nvSpPr>
        <p:spPr>
          <a:xfrm>
            <a:off x="1375983" y="228600"/>
            <a:ext cx="9440034" cy="88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Abordagem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C79C9F9-4A03-5DAC-32FA-4AD04468EAD7}"/>
              </a:ext>
            </a:extLst>
          </p:cNvPr>
          <p:cNvSpPr txBox="1">
            <a:spLocks/>
          </p:cNvSpPr>
          <p:nvPr/>
        </p:nvSpPr>
        <p:spPr>
          <a:xfrm>
            <a:off x="1375983" y="1115567"/>
            <a:ext cx="9440034" cy="47548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Aqui você mostra maturidade técnica:</a:t>
            </a:r>
          </a:p>
          <a:p>
            <a:r>
              <a:rPr lang="pt-BR" dirty="0"/>
              <a:t>Análise exploratória (EDA) </a:t>
            </a:r>
          </a:p>
          <a:p>
            <a:r>
              <a:rPr lang="pt-BR" dirty="0"/>
              <a:t>Identificação de padrões </a:t>
            </a:r>
          </a:p>
          <a:p>
            <a:r>
              <a:rPr lang="pt-BR" dirty="0"/>
              <a:t>Correlações entre variáveis e NPS </a:t>
            </a:r>
          </a:p>
          <a:p>
            <a:r>
              <a:rPr lang="pt-BR" dirty="0"/>
              <a:t>Possível modelo preditivo: </a:t>
            </a:r>
          </a:p>
          <a:p>
            <a:pPr lvl="1"/>
            <a:r>
              <a:rPr lang="pt-BR" dirty="0"/>
              <a:t>regressão (nota de NPS) </a:t>
            </a:r>
          </a:p>
          <a:p>
            <a:pPr lvl="1"/>
            <a:r>
              <a:rPr lang="pt-BR" dirty="0"/>
              <a:t>classificação (satisfeito </a:t>
            </a:r>
            <a:r>
              <a:rPr lang="pt-BR" dirty="0" err="1"/>
              <a:t>vs</a:t>
            </a:r>
            <a:r>
              <a:rPr lang="pt-BR" dirty="0"/>
              <a:t> insatisfeito)</a:t>
            </a:r>
          </a:p>
        </p:txBody>
      </p:sp>
    </p:spTree>
    <p:extLst>
      <p:ext uri="{BB962C8B-B14F-4D97-AF65-F5344CB8AC3E}">
        <p14:creationId xmlns:p14="http://schemas.microsoft.com/office/powerpoint/2010/main" val="298839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40325-1DBF-95B1-99B1-24E1C8D4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B5BE456A-AE50-DF86-7C07-7E57D84B4165}"/>
              </a:ext>
            </a:extLst>
          </p:cNvPr>
          <p:cNvSpPr txBox="1">
            <a:spLocks/>
          </p:cNvSpPr>
          <p:nvPr/>
        </p:nvSpPr>
        <p:spPr>
          <a:xfrm>
            <a:off x="1375983" y="228600"/>
            <a:ext cx="9440034" cy="88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Recomendações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E81CE8A-753F-118C-DAA9-F594B5E12BC1}"/>
              </a:ext>
            </a:extLst>
          </p:cNvPr>
          <p:cNvSpPr txBox="1">
            <a:spLocks/>
          </p:cNvSpPr>
          <p:nvPr/>
        </p:nvSpPr>
        <p:spPr>
          <a:xfrm>
            <a:off x="1375983" y="1115567"/>
            <a:ext cx="9440034" cy="47548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Assumir um papel de consultor.</a:t>
            </a:r>
          </a:p>
          <a:p>
            <a:r>
              <a:rPr lang="pt-BR" dirty="0"/>
              <a:t>Monitorar entregas com atraso em tempo real </a:t>
            </a:r>
          </a:p>
          <a:p>
            <a:r>
              <a:rPr lang="pt-BR" dirty="0"/>
              <a:t>Criar alerta para clientes com múltiplos contatos no suporte </a:t>
            </a:r>
          </a:p>
          <a:p>
            <a:r>
              <a:rPr lang="pt-BR" dirty="0"/>
              <a:t>Priorizar logística para clientes de alto valor </a:t>
            </a:r>
          </a:p>
          <a:p>
            <a:r>
              <a:rPr lang="pt-BR" dirty="0"/>
              <a:t>Atuar preventivamente em pedidos com risco de insatisfação</a:t>
            </a:r>
          </a:p>
        </p:txBody>
      </p:sp>
    </p:spTree>
    <p:extLst>
      <p:ext uri="{BB962C8B-B14F-4D97-AF65-F5344CB8AC3E}">
        <p14:creationId xmlns:p14="http://schemas.microsoft.com/office/powerpoint/2010/main" val="2821605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BE017-E9C3-4AD4-B8C8-C3442CEEA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CDDB8020-1F0C-9FE8-2892-932F9F6A673D}"/>
              </a:ext>
            </a:extLst>
          </p:cNvPr>
          <p:cNvSpPr txBox="1">
            <a:spLocks/>
          </p:cNvSpPr>
          <p:nvPr/>
        </p:nvSpPr>
        <p:spPr>
          <a:xfrm>
            <a:off x="1375983" y="228600"/>
            <a:ext cx="9440034" cy="88696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Fim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B6E4F53F-D71C-961D-8486-C07F98A0E9AD}"/>
              </a:ext>
            </a:extLst>
          </p:cNvPr>
          <p:cNvSpPr txBox="1">
            <a:spLocks/>
          </p:cNvSpPr>
          <p:nvPr/>
        </p:nvSpPr>
        <p:spPr>
          <a:xfrm>
            <a:off x="1375983" y="1115567"/>
            <a:ext cx="9440034" cy="475488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abc</a:t>
            </a:r>
          </a:p>
        </p:txBody>
      </p:sp>
    </p:spTree>
    <p:extLst>
      <p:ext uri="{BB962C8B-B14F-4D97-AF65-F5344CB8AC3E}">
        <p14:creationId xmlns:p14="http://schemas.microsoft.com/office/powerpoint/2010/main" val="1096214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zul Quent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831</TotalTime>
  <Words>606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Calisto MT</vt:lpstr>
      <vt:lpstr>Wingdings 2</vt:lpstr>
      <vt:lpstr>Ardósia</vt:lpstr>
      <vt:lpstr>NPS Preditivo no E-commerce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Ramos</dc:creator>
  <cp:lastModifiedBy>Guilherme Ramos</cp:lastModifiedBy>
  <cp:revision>12</cp:revision>
  <dcterms:created xsi:type="dcterms:W3CDTF">2026-04-26T08:26:38Z</dcterms:created>
  <dcterms:modified xsi:type="dcterms:W3CDTF">2026-04-29T01:19:54Z</dcterms:modified>
</cp:coreProperties>
</file>